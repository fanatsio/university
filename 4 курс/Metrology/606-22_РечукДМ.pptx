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EE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3" d="100"/>
          <a:sy n="133" d="100"/>
        </p:scale>
        <p:origin x="31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76110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21.svg"/><Relationship Id="rId5" Type="http://schemas.openxmlformats.org/officeDocument/2006/relationships/image" Target="../media/image15.sv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svg"/><Relationship Id="rId3" Type="http://schemas.openxmlformats.org/officeDocument/2006/relationships/image" Target="../media/image22.png"/><Relationship Id="rId7" Type="http://schemas.openxmlformats.org/officeDocument/2006/relationships/image" Target="../media/image26.svg"/><Relationship Id="rId12" Type="http://schemas.openxmlformats.org/officeDocument/2006/relationships/image" Target="../media/image31.png"/><Relationship Id="rId17" Type="http://schemas.openxmlformats.org/officeDocument/2006/relationships/image" Target="../media/image36.sv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35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5.png"/><Relationship Id="rId11" Type="http://schemas.openxmlformats.org/officeDocument/2006/relationships/image" Target="../media/image30.svg"/><Relationship Id="rId5" Type="http://schemas.openxmlformats.org/officeDocument/2006/relationships/image" Target="../media/image24.svg"/><Relationship Id="rId15" Type="http://schemas.openxmlformats.org/officeDocument/2006/relationships/image" Target="../media/image34.sv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svg"/><Relationship Id="rId14" Type="http://schemas.openxmlformats.org/officeDocument/2006/relationships/image" Target="../media/image3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sv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4.svg"/><Relationship Id="rId5" Type="http://schemas.openxmlformats.org/officeDocument/2006/relationships/image" Target="../media/image43.png"/><Relationship Id="rId10" Type="http://schemas.openxmlformats.org/officeDocument/2006/relationships/image" Target="../media/image48.svg"/><Relationship Id="rId4" Type="http://schemas.openxmlformats.org/officeDocument/2006/relationships/image" Target="../media/image42.svg"/><Relationship Id="rId9" Type="http://schemas.openxmlformats.org/officeDocument/2006/relationships/image" Target="../media/image4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89" y="3051631"/>
            <a:ext cx="130428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Arial" panose="020B0604020202020204" pitchFamily="34" charset="0"/>
                <a:ea typeface="Outfit Extra Bold" pitchFamily="34" charset="-122"/>
                <a:cs typeface="Arial" panose="020B0604020202020204" pitchFamily="34" charset="0"/>
              </a:rPr>
              <a:t>Величина. Измеряемая величина: физическая величина (ФВ), характеристики, обозначения и единицы</a:t>
            </a:r>
            <a:endParaRPr lang="en-US" sz="4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728486" y="6525009"/>
            <a:ext cx="3173411" cy="790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Выполнил:</a:t>
            </a:r>
            <a:r>
              <a:rPr lang="en-US" sz="175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 </a:t>
            </a:r>
          </a:p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Речук Д.М. 606-22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6E37D09-5971-6D98-E74B-1977A9D4AD58}"/>
              </a:ext>
            </a:extLst>
          </p:cNvPr>
          <p:cNvSpPr/>
          <p:nvPr/>
        </p:nvSpPr>
        <p:spPr>
          <a:xfrm>
            <a:off x="12758400" y="7315200"/>
            <a:ext cx="1872000" cy="914400"/>
          </a:xfrm>
          <a:prstGeom prst="rect">
            <a:avLst/>
          </a:prstGeom>
          <a:solidFill>
            <a:srgbClr val="EEEE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388EF1-BF0C-F902-0519-4C2827A9674F}"/>
              </a:ext>
            </a:extLst>
          </p:cNvPr>
          <p:cNvSpPr txBox="1"/>
          <p:nvPr/>
        </p:nvSpPr>
        <p:spPr>
          <a:xfrm>
            <a:off x="14004908" y="7860268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1/10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13E7DA19-48EE-6974-1488-6A691AA97B89}"/>
              </a:ext>
            </a:extLst>
          </p:cNvPr>
          <p:cNvSpPr/>
          <p:nvPr/>
        </p:nvSpPr>
        <p:spPr>
          <a:xfrm>
            <a:off x="5583133" y="5734818"/>
            <a:ext cx="3464115" cy="790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ru-RU" sz="1750" b="1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Проверил</a:t>
            </a:r>
            <a:r>
              <a:rPr lang="en-US" sz="1750" b="1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:</a:t>
            </a:r>
            <a:r>
              <a:rPr lang="en-US" sz="175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 </a:t>
            </a:r>
          </a:p>
          <a:p>
            <a:pPr marL="0" indent="0" algn="ctr">
              <a:lnSpc>
                <a:spcPts val="2850"/>
              </a:lnSpc>
              <a:buNone/>
            </a:pPr>
            <a:r>
              <a:rPr lang="ru-RU" sz="175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ст. преподаватель Гребенюк Е.В.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6D618A3E-2FD1-2B74-966B-EF184B7180AE}"/>
              </a:ext>
            </a:extLst>
          </p:cNvPr>
          <p:cNvSpPr/>
          <p:nvPr/>
        </p:nvSpPr>
        <p:spPr>
          <a:xfrm>
            <a:off x="5728491" y="7408638"/>
            <a:ext cx="3173411" cy="446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ru-RU" sz="1750" b="1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Сургут, 2026 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965" y="530304"/>
            <a:ext cx="4889183" cy="602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231971"/>
                </a:solidFill>
                <a:latin typeface="Arial" panose="020B0604020202020204" pitchFamily="34" charset="0"/>
                <a:ea typeface="Outfit Extra Bold" pitchFamily="34" charset="-122"/>
                <a:cs typeface="Arial" panose="020B0604020202020204" pitchFamily="34" charset="0"/>
              </a:rPr>
              <a:t>Понятие величины</a:t>
            </a:r>
            <a:endParaRPr lang="en-US" sz="3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74965" y="2869882"/>
            <a:ext cx="4342209" cy="856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Величина</a:t>
            </a:r>
            <a:r>
              <a:rPr lang="en-US" sz="150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 — это фундаментальное свойство любого объекта или физического явления, которое может быть: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74965" y="3873579"/>
            <a:ext cx="4342209" cy="1198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Качественно определено (установлено его наименование и природа)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Количественно измерено (определено числовое значение)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5330" y="1563172"/>
            <a:ext cx="8467606" cy="472606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74965" y="6658094"/>
            <a:ext cx="4317444" cy="1085850"/>
          </a:xfrm>
          <a:prstGeom prst="roundRect">
            <a:avLst>
              <a:gd name="adj" fmla="val 7459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75348" y="6858476"/>
            <a:ext cx="2410658" cy="301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A2742"/>
                </a:solidFill>
                <a:latin typeface="Arial" panose="020B0604020202020204" pitchFamily="34" charset="0"/>
                <a:ea typeface="Outfit Extra Bold" pitchFamily="34" charset="-122"/>
                <a:cs typeface="Arial" panose="020B0604020202020204" pitchFamily="34" charset="0"/>
              </a:rPr>
              <a:t>Длина</a:t>
            </a:r>
            <a:endParaRPr lang="en-US" sz="1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875348" y="7258169"/>
            <a:ext cx="3916680" cy="285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Расстояние между точками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156359" y="6658094"/>
            <a:ext cx="4317563" cy="1085850"/>
          </a:xfrm>
          <a:prstGeom prst="roundRect">
            <a:avLst>
              <a:gd name="adj" fmla="val 7459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356741" y="6858476"/>
            <a:ext cx="2410658" cy="301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A2742"/>
                </a:solidFill>
                <a:latin typeface="Arial" panose="020B0604020202020204" pitchFamily="34" charset="0"/>
                <a:ea typeface="Outfit Extra Bold" pitchFamily="34" charset="-122"/>
                <a:cs typeface="Arial" panose="020B0604020202020204" pitchFamily="34" charset="0"/>
              </a:rPr>
              <a:t>Масса</a:t>
            </a:r>
            <a:endParaRPr lang="en-US" sz="1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356741" y="7258169"/>
            <a:ext cx="3916799" cy="285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Мера инерции тела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9637871" y="6658094"/>
            <a:ext cx="4317563" cy="1085850"/>
          </a:xfrm>
          <a:prstGeom prst="roundRect">
            <a:avLst>
              <a:gd name="adj" fmla="val 7459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838253" y="6858476"/>
            <a:ext cx="2410658" cy="301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A2742"/>
                </a:solidFill>
                <a:latin typeface="Arial" panose="020B0604020202020204" pitchFamily="34" charset="0"/>
                <a:ea typeface="Outfit Extra Bold" pitchFamily="34" charset="-122"/>
                <a:cs typeface="Arial" panose="020B0604020202020204" pitchFamily="34" charset="0"/>
              </a:rPr>
              <a:t>Температура</a:t>
            </a:r>
            <a:endParaRPr lang="en-US" sz="1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9838253" y="7258169"/>
            <a:ext cx="3916799" cy="285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Степень нагрева вещества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D7AC7104-FF27-6E78-0A63-38B04AF3DBE9}"/>
              </a:ext>
            </a:extLst>
          </p:cNvPr>
          <p:cNvSpPr/>
          <p:nvPr/>
        </p:nvSpPr>
        <p:spPr>
          <a:xfrm>
            <a:off x="12758400" y="7777163"/>
            <a:ext cx="1872000" cy="452437"/>
          </a:xfrm>
          <a:prstGeom prst="rect">
            <a:avLst/>
          </a:prstGeom>
          <a:solidFill>
            <a:srgbClr val="EEEE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782636-F7AC-A2A3-47C3-BFFE88BA7D88}"/>
              </a:ext>
            </a:extLst>
          </p:cNvPr>
          <p:cNvSpPr txBox="1"/>
          <p:nvPr/>
        </p:nvSpPr>
        <p:spPr>
          <a:xfrm>
            <a:off x="14004908" y="7860268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2/10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252299"/>
            <a:ext cx="685085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Arial" panose="020B0604020202020204" pitchFamily="34" charset="0"/>
                <a:ea typeface="Outfit Extra Bold" pitchFamily="34" charset="-122"/>
                <a:cs typeface="Arial" panose="020B0604020202020204" pitchFamily="34" charset="0"/>
              </a:rPr>
              <a:t>Измеряемая величина</a:t>
            </a:r>
            <a:endParaRPr lang="en-US" sz="4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280190" y="2301240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Измеряемая величина</a:t>
            </a:r>
            <a:r>
              <a:rPr lang="en-US" sz="175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 — это величина, значение которой определяется с помощью специальной процедуры — </a:t>
            </a:r>
            <a:r>
              <a:rPr lang="en-US" sz="1750" b="1" dirty="0">
                <a:solidFill>
                  <a:srgbClr val="5E4CE6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измерения</a:t>
            </a:r>
            <a:r>
              <a:rPr lang="en-US" sz="175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280190" y="3282196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al" panose="020B0604020202020204" pitchFamily="34" charset="0"/>
                <a:ea typeface="Outfit Light" pitchFamily="34" charset="-122"/>
                <a:cs typeface="Arial" panose="020B0604020202020204" pitchFamily="34" charset="0"/>
              </a:rPr>
              <a:t>01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280190" y="3637240"/>
            <a:ext cx="3664744" cy="30480"/>
          </a:xfrm>
          <a:prstGeom prst="rect">
            <a:avLst/>
          </a:prstGeom>
          <a:solidFill>
            <a:srgbClr val="5E4CE6"/>
          </a:solidFill>
          <a:ln/>
        </p:spPr>
      </p:sp>
      <p:sp>
        <p:nvSpPr>
          <p:cNvPr id="7" name="Text 4"/>
          <p:cNvSpPr/>
          <p:nvPr/>
        </p:nvSpPr>
        <p:spPr>
          <a:xfrm>
            <a:off x="6280190" y="38115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Arial" panose="020B0604020202020204" pitchFamily="34" charset="0"/>
                <a:ea typeface="Outfit Extra Bold" pitchFamily="34" charset="-122"/>
                <a:cs typeface="Arial" panose="020B0604020202020204" pitchFamily="34" charset="0"/>
              </a:rPr>
              <a:t>Эталон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6280190" y="4301966"/>
            <a:ext cx="36647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Единица измерения (стандарт)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0171748" y="3282196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al" panose="020B0604020202020204" pitchFamily="34" charset="0"/>
                <a:ea typeface="Outfit Light" pitchFamily="34" charset="-122"/>
                <a:cs typeface="Arial" panose="020B0604020202020204" pitchFamily="34" charset="0"/>
              </a:rPr>
              <a:t>02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10171748" y="3637240"/>
            <a:ext cx="3664863" cy="30480"/>
          </a:xfrm>
          <a:prstGeom prst="rect">
            <a:avLst/>
          </a:prstGeom>
          <a:solidFill>
            <a:srgbClr val="5E4CE6"/>
          </a:solidFill>
          <a:ln/>
        </p:spPr>
      </p:sp>
      <p:sp>
        <p:nvSpPr>
          <p:cNvPr id="11" name="Text 8"/>
          <p:cNvSpPr/>
          <p:nvPr/>
        </p:nvSpPr>
        <p:spPr>
          <a:xfrm>
            <a:off x="10171748" y="38115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Arial" panose="020B0604020202020204" pitchFamily="34" charset="0"/>
                <a:ea typeface="Outfit Extra Bold" pitchFamily="34" charset="-122"/>
                <a:cs typeface="Arial" panose="020B0604020202020204" pitchFamily="34" charset="0"/>
              </a:rPr>
              <a:t>Сравнение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0171748" y="4301966"/>
            <a:ext cx="36648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Сопоставление измеряемой величины с эталоном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280190" y="542460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al" panose="020B0604020202020204" pitchFamily="34" charset="0"/>
                <a:ea typeface="Outfit Light" pitchFamily="34" charset="-122"/>
                <a:cs typeface="Arial" panose="020B0604020202020204" pitchFamily="34" charset="0"/>
              </a:rPr>
              <a:t>03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6280190" y="5779651"/>
            <a:ext cx="7556421" cy="30480"/>
          </a:xfrm>
          <a:prstGeom prst="rect">
            <a:avLst/>
          </a:prstGeom>
          <a:solidFill>
            <a:srgbClr val="5E4CE6"/>
          </a:solidFill>
          <a:ln/>
        </p:spPr>
      </p:sp>
      <p:sp>
        <p:nvSpPr>
          <p:cNvPr id="15" name="Text 12"/>
          <p:cNvSpPr/>
          <p:nvPr/>
        </p:nvSpPr>
        <p:spPr>
          <a:xfrm>
            <a:off x="6280190" y="59539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Arial" panose="020B0604020202020204" pitchFamily="34" charset="0"/>
                <a:ea typeface="Outfit Extra Bold" pitchFamily="34" charset="-122"/>
                <a:cs typeface="Arial" panose="020B0604020202020204" pitchFamily="34" charset="0"/>
              </a:rPr>
              <a:t>Результат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6280190" y="644437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Числовое значение в выбранных единицах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61BCB3F4-B756-A02C-D928-C1EDAAED42F2}"/>
              </a:ext>
            </a:extLst>
          </p:cNvPr>
          <p:cNvSpPr/>
          <p:nvPr/>
        </p:nvSpPr>
        <p:spPr>
          <a:xfrm>
            <a:off x="12758400" y="7315200"/>
            <a:ext cx="1872000" cy="914400"/>
          </a:xfrm>
          <a:prstGeom prst="rect">
            <a:avLst/>
          </a:prstGeom>
          <a:solidFill>
            <a:srgbClr val="EEEE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7EA782C-0E2B-2B0A-12E5-A699094A0A22}"/>
              </a:ext>
            </a:extLst>
          </p:cNvPr>
          <p:cNvSpPr txBox="1"/>
          <p:nvPr/>
        </p:nvSpPr>
        <p:spPr>
          <a:xfrm>
            <a:off x="14004908" y="7860268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3/10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6991" y="634008"/>
            <a:ext cx="6962894" cy="613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b="1" dirty="0">
                <a:solidFill>
                  <a:srgbClr val="231971"/>
                </a:solidFill>
                <a:latin typeface="Arial" panose="020B0604020202020204" pitchFamily="34" charset="0"/>
                <a:ea typeface="Outfit Extra Bold" pitchFamily="34" charset="-122"/>
                <a:cs typeface="Arial" panose="020B0604020202020204" pitchFamily="34" charset="0"/>
              </a:rPr>
              <a:t>Физическая величина (ФВ)</a:t>
            </a:r>
            <a:endParaRPr lang="en-US" sz="3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8664" y="1693307"/>
            <a:ext cx="4525566" cy="452556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76555" y="2623541"/>
            <a:ext cx="5617845" cy="14912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b="1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Физическая величина</a:t>
            </a:r>
            <a:r>
              <a:rPr lang="en-US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 — это количественная характеристика физических свойств материальных объектов, процессов и </a:t>
            </a:r>
            <a:r>
              <a:rPr lang="ru-RU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явлений</a:t>
            </a:r>
            <a:r>
              <a:rPr lang="en-US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.</a:t>
            </a:r>
          </a:p>
          <a:p>
            <a:pPr>
              <a:lnSpc>
                <a:spcPts val="2300"/>
              </a:lnSpc>
            </a:pPr>
            <a:r>
              <a:rPr lang="en-US" dirty="0" err="1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Физические</a:t>
            </a:r>
            <a:r>
              <a:rPr lang="en-US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величины</a:t>
            </a:r>
            <a:r>
              <a:rPr lang="en-US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являются</a:t>
            </a:r>
            <a:r>
              <a:rPr lang="en-US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основой</a:t>
            </a:r>
            <a:r>
              <a:rPr lang="en-US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для</a:t>
            </a:r>
            <a:r>
              <a:rPr lang="en-US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описания</a:t>
            </a:r>
            <a:r>
              <a:rPr lang="en-US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 и </a:t>
            </a:r>
            <a:r>
              <a:rPr lang="en-US" dirty="0" err="1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понимания</a:t>
            </a:r>
            <a:r>
              <a:rPr lang="en-US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законов</a:t>
            </a:r>
            <a:r>
              <a:rPr lang="en-US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природы</a:t>
            </a:r>
            <a:r>
              <a:rPr lang="en-US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6991" y="6601063"/>
            <a:ext cx="490657" cy="49065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89936" y="6601063"/>
            <a:ext cx="2453640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2A2742"/>
                </a:solidFill>
                <a:latin typeface="Arial" panose="020B0604020202020204" pitchFamily="34" charset="0"/>
                <a:ea typeface="Outfit Extra Bold" pitchFamily="34" charset="-122"/>
                <a:cs typeface="Arial" panose="020B0604020202020204" pitchFamily="34" charset="0"/>
              </a:rPr>
              <a:t>Скорость</a:t>
            </a:r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1389936" y="7009686"/>
            <a:ext cx="3574256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0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Изменение положения тела в пространстве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176480" y="6601063"/>
            <a:ext cx="490657" cy="49065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879425" y="6601063"/>
            <a:ext cx="2453640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2A2742"/>
                </a:solidFill>
                <a:latin typeface="Arial" panose="020B0604020202020204" pitchFamily="34" charset="0"/>
                <a:ea typeface="Outfit Extra Bold" pitchFamily="34" charset="-122"/>
                <a:cs typeface="Arial" panose="020B0604020202020204" pitchFamily="34" charset="0"/>
              </a:rPr>
              <a:t>Энергия</a:t>
            </a:r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5879425" y="7009686"/>
            <a:ext cx="3574375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0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Способность системы производить работу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666089" y="6601063"/>
            <a:ext cx="490657" cy="49065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369034" y="6601063"/>
            <a:ext cx="2453640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2A2742"/>
                </a:solidFill>
                <a:latin typeface="Arial" panose="020B0604020202020204" pitchFamily="34" charset="0"/>
                <a:ea typeface="Outfit Extra Bold" pitchFamily="34" charset="-122"/>
                <a:cs typeface="Arial" panose="020B0604020202020204" pitchFamily="34" charset="0"/>
              </a:rPr>
              <a:t>Давление</a:t>
            </a:r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8"/>
          <p:cNvSpPr/>
          <p:nvPr/>
        </p:nvSpPr>
        <p:spPr>
          <a:xfrm>
            <a:off x="10369034" y="7009686"/>
            <a:ext cx="3574375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0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Сила, действующая на единицу площади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B16A25A9-CA22-19D3-90A7-15C7B994F3A8}"/>
              </a:ext>
            </a:extLst>
          </p:cNvPr>
          <p:cNvSpPr/>
          <p:nvPr/>
        </p:nvSpPr>
        <p:spPr>
          <a:xfrm>
            <a:off x="12758400" y="7315200"/>
            <a:ext cx="1872000" cy="914400"/>
          </a:xfrm>
          <a:prstGeom prst="rect">
            <a:avLst/>
          </a:prstGeom>
          <a:solidFill>
            <a:srgbClr val="EEEE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6393D6-05F3-4EEB-76EE-EA99662B313B}"/>
              </a:ext>
            </a:extLst>
          </p:cNvPr>
          <p:cNvSpPr txBox="1"/>
          <p:nvPr/>
        </p:nvSpPr>
        <p:spPr>
          <a:xfrm>
            <a:off x="14004908" y="7860268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4/10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90863" y="1058228"/>
            <a:ext cx="11721346" cy="554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450" b="1" dirty="0">
                <a:solidFill>
                  <a:srgbClr val="231971"/>
                </a:solidFill>
                <a:latin typeface="Arial" panose="020B0604020202020204" pitchFamily="34" charset="0"/>
                <a:ea typeface="Outfit Extra Bold" pitchFamily="34" charset="-122"/>
                <a:cs typeface="Arial" panose="020B0604020202020204" pitchFamily="34" charset="0"/>
              </a:rPr>
              <a:t>Качественные и количественные характеристики</a:t>
            </a:r>
            <a:endParaRPr lang="en-US" sz="3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190863" y="3120033"/>
            <a:ext cx="12248674" cy="22860"/>
          </a:xfrm>
          <a:prstGeom prst="roundRect">
            <a:avLst>
              <a:gd name="adj" fmla="val 326148"/>
            </a:avLst>
          </a:prstGeom>
          <a:solidFill>
            <a:srgbClr val="BDB8DF"/>
          </a:solidFill>
          <a:ln/>
        </p:spPr>
      </p:sp>
      <p:sp>
        <p:nvSpPr>
          <p:cNvPr id="4" name="Shape 2"/>
          <p:cNvSpPr/>
          <p:nvPr/>
        </p:nvSpPr>
        <p:spPr>
          <a:xfrm>
            <a:off x="1190863" y="1890593"/>
            <a:ext cx="6037540" cy="1229439"/>
          </a:xfrm>
          <a:prstGeom prst="roundRect">
            <a:avLst>
              <a:gd name="adj" fmla="val 6064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428280" y="2075617"/>
            <a:ext cx="3562707" cy="277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2A2742"/>
                </a:solidFill>
                <a:latin typeface="Arial" panose="020B0604020202020204" pitchFamily="34" charset="0"/>
                <a:ea typeface="Outfit Extra Bold" pitchFamily="34" charset="-122"/>
                <a:cs typeface="Arial" panose="020B0604020202020204" pitchFamily="34" charset="0"/>
              </a:rPr>
              <a:t>Качественная характеристика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375886" y="2436376"/>
            <a:ext cx="5667494" cy="506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Определяет </a:t>
            </a:r>
            <a:r>
              <a:rPr lang="en-US" sz="1350" b="1" dirty="0">
                <a:solidFill>
                  <a:srgbClr val="5E4CE6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какую именно величину</a:t>
            </a:r>
            <a:r>
              <a:rPr lang="en-US" sz="135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 мы измеряем: длина, масса, время и т.д.</a:t>
            </a:r>
            <a:endParaRPr lang="en-US" sz="1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401997" y="3142893"/>
            <a:ext cx="6037540" cy="1229439"/>
          </a:xfrm>
          <a:prstGeom prst="rect">
            <a:avLst/>
          </a:prstGeom>
          <a:solidFill>
            <a:srgbClr val="E9E6FA"/>
          </a:solidFill>
          <a:ln/>
        </p:spPr>
      </p:sp>
      <p:sp>
        <p:nvSpPr>
          <p:cNvPr id="8" name="Text 6"/>
          <p:cNvSpPr/>
          <p:nvPr/>
        </p:nvSpPr>
        <p:spPr>
          <a:xfrm>
            <a:off x="8486299" y="3320296"/>
            <a:ext cx="3868936" cy="277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2A2742"/>
                </a:solidFill>
                <a:latin typeface="Arial" panose="020B0604020202020204" pitchFamily="34" charset="0"/>
                <a:ea typeface="Outfit Extra Bold" pitchFamily="34" charset="-122"/>
                <a:cs typeface="Arial" panose="020B0604020202020204" pitchFamily="34" charset="0"/>
              </a:rPr>
              <a:t>Количественная характеристика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587020" y="3681055"/>
            <a:ext cx="5667494" cy="506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Представляет собой </a:t>
            </a:r>
            <a:r>
              <a:rPr lang="en-US" sz="1350" b="1" dirty="0">
                <a:solidFill>
                  <a:srgbClr val="5E4CE6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числовое значение</a:t>
            </a:r>
            <a:r>
              <a:rPr lang="en-US" sz="135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 величины в выбранных единицах измерения.</a:t>
            </a:r>
            <a:endParaRPr lang="en-US" sz="1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190863" y="4505682"/>
            <a:ext cx="12248674" cy="1028105"/>
          </a:xfrm>
          <a:prstGeom prst="roundRect">
            <a:avLst>
              <a:gd name="adj" fmla="val 7252"/>
            </a:avLst>
          </a:prstGeom>
          <a:solidFill>
            <a:srgbClr val="C3BCF6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8266" y="4754999"/>
            <a:ext cx="221813" cy="177403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767483" y="4688800"/>
            <a:ext cx="11494651" cy="253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Стандартная форма записи:</a:t>
            </a:r>
            <a:r>
              <a:rPr lang="en-US" sz="1350" dirty="0">
                <a:solidFill>
                  <a:srgbClr val="000000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 </a:t>
            </a:r>
            <a:r>
              <a:rPr lang="en-US" sz="1350" i="1" dirty="0">
                <a:solidFill>
                  <a:srgbClr val="000000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X = q[X]</a:t>
            </a:r>
            <a:endParaRPr lang="en-US" sz="1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767483" y="5066943"/>
            <a:ext cx="11494651" cy="253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где </a:t>
            </a:r>
            <a:r>
              <a:rPr lang="en-US" sz="1350" i="1" dirty="0">
                <a:solidFill>
                  <a:srgbClr val="000000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X</a:t>
            </a:r>
            <a:r>
              <a:rPr lang="en-US" sz="1350" dirty="0">
                <a:solidFill>
                  <a:srgbClr val="000000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 — обозначение величины, </a:t>
            </a:r>
            <a:r>
              <a:rPr lang="en-US" sz="1350" i="1" dirty="0">
                <a:solidFill>
                  <a:srgbClr val="000000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q</a:t>
            </a:r>
            <a:r>
              <a:rPr lang="en-US" sz="1350" dirty="0">
                <a:solidFill>
                  <a:srgbClr val="000000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 — числовое значение, </a:t>
            </a:r>
            <a:r>
              <a:rPr lang="en-US" sz="1350" i="1" dirty="0">
                <a:solidFill>
                  <a:srgbClr val="000000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[X]</a:t>
            </a:r>
            <a:r>
              <a:rPr lang="en-US" sz="1350" dirty="0">
                <a:solidFill>
                  <a:srgbClr val="000000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 — единица измерения</a:t>
            </a:r>
            <a:endParaRPr lang="en-US" sz="1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190863" y="5778698"/>
            <a:ext cx="3967163" cy="585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600"/>
              </a:lnSpc>
              <a:buNone/>
            </a:pPr>
            <a:r>
              <a:rPr lang="en-US" sz="4600" b="1" dirty="0">
                <a:solidFill>
                  <a:srgbClr val="2A2742"/>
                </a:solidFill>
                <a:latin typeface="Arial" panose="020B0604020202020204" pitchFamily="34" charset="0"/>
                <a:ea typeface="Outfit Extra Bold" pitchFamily="34" charset="-122"/>
                <a:cs typeface="Arial" panose="020B0604020202020204" pitchFamily="34" charset="0"/>
              </a:rPr>
              <a:t>5</a:t>
            </a:r>
            <a:endParaRPr lang="en-US" sz="4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2064901" y="6557367"/>
            <a:ext cx="2218968" cy="277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2A2742"/>
                </a:solidFill>
                <a:latin typeface="Arial" panose="020B0604020202020204" pitchFamily="34" charset="0"/>
                <a:ea typeface="Outfit Extra Bold" pitchFamily="34" charset="-122"/>
                <a:cs typeface="Arial" panose="020B0604020202020204" pitchFamily="34" charset="0"/>
              </a:rPr>
              <a:t>Метров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1190863" y="6918127"/>
            <a:ext cx="3967163" cy="253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Длина отрезка</a:t>
            </a:r>
            <a:endParaRPr lang="en-US" sz="1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5331619" y="5778698"/>
            <a:ext cx="3967163" cy="585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600"/>
              </a:lnSpc>
              <a:buNone/>
            </a:pPr>
            <a:r>
              <a:rPr lang="en-US" sz="4600" b="1" dirty="0">
                <a:solidFill>
                  <a:srgbClr val="2A2742"/>
                </a:solidFill>
                <a:latin typeface="Arial" panose="020B0604020202020204" pitchFamily="34" charset="0"/>
                <a:ea typeface="Outfit Extra Bold" pitchFamily="34" charset="-122"/>
                <a:cs typeface="Arial" panose="020B0604020202020204" pitchFamily="34" charset="0"/>
              </a:rPr>
              <a:t>20</a:t>
            </a:r>
            <a:endParaRPr lang="en-US" sz="4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6205657" y="6557367"/>
            <a:ext cx="2218968" cy="277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2A2742"/>
                </a:solidFill>
                <a:latin typeface="Arial" panose="020B0604020202020204" pitchFamily="34" charset="0"/>
                <a:ea typeface="Outfit Extra Bold" pitchFamily="34" charset="-122"/>
                <a:cs typeface="Arial" panose="020B0604020202020204" pitchFamily="34" charset="0"/>
              </a:rPr>
              <a:t>Градусов Цельсия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5331619" y="6918127"/>
            <a:ext cx="3967163" cy="253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Температура воздуха</a:t>
            </a:r>
            <a:endParaRPr lang="en-US" sz="1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9472374" y="5778698"/>
            <a:ext cx="3967163" cy="585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600"/>
              </a:lnSpc>
              <a:buNone/>
            </a:pPr>
            <a:r>
              <a:rPr lang="en-US" sz="4600" b="1" dirty="0">
                <a:solidFill>
                  <a:srgbClr val="2A2742"/>
                </a:solidFill>
                <a:latin typeface="Arial" panose="020B0604020202020204" pitchFamily="34" charset="0"/>
                <a:ea typeface="Outfit Extra Bold" pitchFamily="34" charset="-122"/>
                <a:cs typeface="Arial" panose="020B0604020202020204" pitchFamily="34" charset="0"/>
              </a:rPr>
              <a:t>10</a:t>
            </a:r>
            <a:endParaRPr lang="en-US" sz="4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10346412" y="6557367"/>
            <a:ext cx="2218968" cy="277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2A2742"/>
                </a:solidFill>
                <a:latin typeface="Arial" panose="020B0604020202020204" pitchFamily="34" charset="0"/>
                <a:ea typeface="Outfit Extra Bold" pitchFamily="34" charset="-122"/>
                <a:cs typeface="Arial" panose="020B0604020202020204" pitchFamily="34" charset="0"/>
              </a:rPr>
              <a:t>Килограммов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9472374" y="6918127"/>
            <a:ext cx="3967163" cy="253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Масса тела</a:t>
            </a:r>
            <a:endParaRPr lang="en-US" sz="1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FE6795A5-7DB3-0F61-4CA6-1729C5651C90}"/>
              </a:ext>
            </a:extLst>
          </p:cNvPr>
          <p:cNvSpPr/>
          <p:nvPr/>
        </p:nvSpPr>
        <p:spPr>
          <a:xfrm>
            <a:off x="12758400" y="7315200"/>
            <a:ext cx="1872000" cy="914400"/>
          </a:xfrm>
          <a:prstGeom prst="rect">
            <a:avLst/>
          </a:prstGeom>
          <a:solidFill>
            <a:srgbClr val="EEEE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0AA0B2E-D76A-BD3A-D230-CF89E235F01E}"/>
              </a:ext>
            </a:extLst>
          </p:cNvPr>
          <p:cNvSpPr txBox="1"/>
          <p:nvPr/>
        </p:nvSpPr>
        <p:spPr>
          <a:xfrm>
            <a:off x="14004908" y="7860268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5/10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79463" y="646390"/>
            <a:ext cx="5885378" cy="6187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b="1" dirty="0">
                <a:solidFill>
                  <a:srgbClr val="231971"/>
                </a:solidFill>
                <a:latin typeface="Arial" panose="020B0604020202020204" pitchFamily="34" charset="0"/>
                <a:ea typeface="Outfit Extra Bold" pitchFamily="34" charset="-122"/>
                <a:cs typeface="Arial" panose="020B0604020202020204" pitchFamily="34" charset="0"/>
              </a:rPr>
              <a:t>Обозначения величин</a:t>
            </a:r>
            <a:endParaRPr lang="en-US" sz="3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179463" y="1524476"/>
            <a:ext cx="7757874" cy="593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Каждая физическая величина имеет стандартное буквенное обозначение, которое используется в формулах и уравнениях.</a:t>
            </a:r>
            <a:endParaRPr lang="en-US" sz="1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6179463" y="2312075"/>
            <a:ext cx="7757874" cy="1188125"/>
          </a:xfrm>
          <a:prstGeom prst="roundRect">
            <a:avLst>
              <a:gd name="adj" fmla="val 7001"/>
            </a:avLst>
          </a:prstGeom>
          <a:solidFill>
            <a:srgbClr val="FAFAFA">
              <a:alpha val="95000"/>
            </a:srgbClr>
          </a:solidFill>
          <a:ln w="22860">
            <a:solidFill>
              <a:srgbClr val="BDB8D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202323" y="2334935"/>
            <a:ext cx="792123" cy="1142405"/>
          </a:xfrm>
          <a:prstGeom prst="roundRect">
            <a:avLst>
              <a:gd name="adj" fmla="val 7037"/>
            </a:avLst>
          </a:prstGeom>
          <a:solidFill>
            <a:srgbClr val="E9E6FA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46044" y="2757607"/>
            <a:ext cx="296942" cy="29694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167324" y="2532936"/>
            <a:ext cx="2475428" cy="309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2A2742"/>
                </a:solidFill>
                <a:latin typeface="Arial" panose="020B0604020202020204" pitchFamily="34" charset="0"/>
                <a:ea typeface="Outfit Extra Bold" pitchFamily="34" charset="-122"/>
                <a:cs typeface="Arial" panose="020B0604020202020204" pitchFamily="34" charset="0"/>
              </a:rPr>
              <a:t>Длина</a:t>
            </a:r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7167324" y="2945963"/>
            <a:ext cx="6549152" cy="296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Обозначается </a:t>
            </a:r>
            <a:r>
              <a:rPr lang="en-US" sz="1550" b="1" dirty="0">
                <a:solidFill>
                  <a:srgbClr val="5E4CE6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l</a:t>
            </a:r>
            <a:r>
              <a:rPr lang="en-US" sz="155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 (малая латинская буква L)</a:t>
            </a:r>
            <a:endParaRPr lang="en-US" sz="1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6179463" y="3673078"/>
            <a:ext cx="7757874" cy="1188125"/>
          </a:xfrm>
          <a:prstGeom prst="roundRect">
            <a:avLst>
              <a:gd name="adj" fmla="val 7001"/>
            </a:avLst>
          </a:prstGeom>
          <a:solidFill>
            <a:srgbClr val="FAFAFA">
              <a:alpha val="95000"/>
            </a:srgbClr>
          </a:solidFill>
          <a:ln w="22860">
            <a:solidFill>
              <a:srgbClr val="BDB8DF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202323" y="3695938"/>
            <a:ext cx="792123" cy="1142405"/>
          </a:xfrm>
          <a:prstGeom prst="roundRect">
            <a:avLst>
              <a:gd name="adj" fmla="val 7037"/>
            </a:avLst>
          </a:prstGeom>
          <a:solidFill>
            <a:srgbClr val="E9E6FA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46044" y="4118610"/>
            <a:ext cx="296942" cy="29694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167324" y="3893939"/>
            <a:ext cx="2475428" cy="309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2A2742"/>
                </a:solidFill>
                <a:latin typeface="Arial" panose="020B0604020202020204" pitchFamily="34" charset="0"/>
                <a:ea typeface="Outfit Extra Bold" pitchFamily="34" charset="-122"/>
                <a:cs typeface="Arial" panose="020B0604020202020204" pitchFamily="34" charset="0"/>
              </a:rPr>
              <a:t>Масса</a:t>
            </a:r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9"/>
          <p:cNvSpPr/>
          <p:nvPr/>
        </p:nvSpPr>
        <p:spPr>
          <a:xfrm>
            <a:off x="7167324" y="4306967"/>
            <a:ext cx="6549152" cy="296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Обозначается </a:t>
            </a:r>
            <a:r>
              <a:rPr lang="en-US" sz="1550" b="1" dirty="0">
                <a:solidFill>
                  <a:srgbClr val="5E4CE6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m</a:t>
            </a:r>
            <a:r>
              <a:rPr lang="en-US" sz="155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 (малая латинская буква M)</a:t>
            </a:r>
            <a:endParaRPr lang="en-US" sz="1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10"/>
          <p:cNvSpPr/>
          <p:nvPr/>
        </p:nvSpPr>
        <p:spPr>
          <a:xfrm>
            <a:off x="6179463" y="5034082"/>
            <a:ext cx="7757874" cy="1188125"/>
          </a:xfrm>
          <a:prstGeom prst="roundRect">
            <a:avLst>
              <a:gd name="adj" fmla="val 7001"/>
            </a:avLst>
          </a:prstGeom>
          <a:solidFill>
            <a:srgbClr val="FAFAFA">
              <a:alpha val="95000"/>
            </a:srgbClr>
          </a:solidFill>
          <a:ln w="22860">
            <a:solidFill>
              <a:srgbClr val="BDB8DF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202323" y="5056942"/>
            <a:ext cx="792123" cy="1142405"/>
          </a:xfrm>
          <a:prstGeom prst="roundRect">
            <a:avLst>
              <a:gd name="adj" fmla="val 7037"/>
            </a:avLst>
          </a:prstGeom>
          <a:solidFill>
            <a:srgbClr val="E9E6FA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46044" y="5479613"/>
            <a:ext cx="296942" cy="29694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167324" y="5254943"/>
            <a:ext cx="2475428" cy="309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2A2742"/>
                </a:solidFill>
                <a:latin typeface="Arial" panose="020B0604020202020204" pitchFamily="34" charset="0"/>
                <a:ea typeface="Outfit Extra Bold" pitchFamily="34" charset="-122"/>
                <a:cs typeface="Arial" panose="020B0604020202020204" pitchFamily="34" charset="0"/>
              </a:rPr>
              <a:t>Время</a:t>
            </a:r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3"/>
          <p:cNvSpPr/>
          <p:nvPr/>
        </p:nvSpPr>
        <p:spPr>
          <a:xfrm>
            <a:off x="7167324" y="5667970"/>
            <a:ext cx="6549152" cy="296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Обозначается </a:t>
            </a:r>
            <a:r>
              <a:rPr lang="en-US" sz="1550" b="1" dirty="0">
                <a:solidFill>
                  <a:srgbClr val="5E4CE6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t</a:t>
            </a:r>
            <a:r>
              <a:rPr lang="en-US" sz="155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 (малая латинская буква T)</a:t>
            </a:r>
            <a:endParaRPr lang="en-US" sz="1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hape 14"/>
          <p:cNvSpPr/>
          <p:nvPr/>
        </p:nvSpPr>
        <p:spPr>
          <a:xfrm>
            <a:off x="6179463" y="6395085"/>
            <a:ext cx="7757874" cy="1188125"/>
          </a:xfrm>
          <a:prstGeom prst="roundRect">
            <a:avLst>
              <a:gd name="adj" fmla="val 7001"/>
            </a:avLst>
          </a:prstGeom>
          <a:solidFill>
            <a:srgbClr val="FAFAFA">
              <a:alpha val="95000"/>
            </a:srgbClr>
          </a:solidFill>
          <a:ln w="22860">
            <a:solidFill>
              <a:srgbClr val="BDB8DF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6202323" y="6417945"/>
            <a:ext cx="792123" cy="1142405"/>
          </a:xfrm>
          <a:prstGeom prst="roundRect">
            <a:avLst>
              <a:gd name="adj" fmla="val 7037"/>
            </a:avLst>
          </a:prstGeom>
          <a:solidFill>
            <a:srgbClr val="E9E6FA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46044" y="6840617"/>
            <a:ext cx="296942" cy="29694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167324" y="6615946"/>
            <a:ext cx="2475428" cy="309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2A2742"/>
                </a:solidFill>
                <a:latin typeface="Arial" panose="020B0604020202020204" pitchFamily="34" charset="0"/>
                <a:ea typeface="Outfit Extra Bold" pitchFamily="34" charset="-122"/>
                <a:cs typeface="Arial" panose="020B0604020202020204" pitchFamily="34" charset="0"/>
              </a:rPr>
              <a:t>Температура</a:t>
            </a:r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17"/>
          <p:cNvSpPr/>
          <p:nvPr/>
        </p:nvSpPr>
        <p:spPr>
          <a:xfrm>
            <a:off x="7167324" y="7028974"/>
            <a:ext cx="6549152" cy="296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Обозначается </a:t>
            </a:r>
            <a:r>
              <a:rPr lang="en-US" sz="1550" b="1" dirty="0">
                <a:solidFill>
                  <a:srgbClr val="5E4CE6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T</a:t>
            </a:r>
            <a:r>
              <a:rPr lang="en-US" sz="155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 (большая латинская буква T)</a:t>
            </a:r>
            <a:endParaRPr lang="en-US" sz="1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DEE5D9BE-25AD-6A01-A693-FCD1079CEB99}"/>
              </a:ext>
            </a:extLst>
          </p:cNvPr>
          <p:cNvSpPr/>
          <p:nvPr/>
        </p:nvSpPr>
        <p:spPr>
          <a:xfrm>
            <a:off x="12758400" y="7664450"/>
            <a:ext cx="1872000" cy="565150"/>
          </a:xfrm>
          <a:prstGeom prst="rect">
            <a:avLst/>
          </a:prstGeom>
          <a:solidFill>
            <a:srgbClr val="EEEE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7C17821-E575-3773-3E0B-EA4AD0940D40}"/>
              </a:ext>
            </a:extLst>
          </p:cNvPr>
          <p:cNvSpPr txBox="1"/>
          <p:nvPr/>
        </p:nvSpPr>
        <p:spPr>
          <a:xfrm>
            <a:off x="14004908" y="7860268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6/10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44096" y="519113"/>
            <a:ext cx="5318998" cy="368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31971"/>
                </a:solidFill>
                <a:latin typeface="Arial" panose="020B0604020202020204" pitchFamily="34" charset="0"/>
                <a:ea typeface="Outfit Extra Bold" pitchFamily="34" charset="-122"/>
                <a:cs typeface="Arial" panose="020B0604020202020204" pitchFamily="34" charset="0"/>
              </a:rPr>
              <a:t>Единицы измерения и система СИ</a:t>
            </a:r>
            <a:endParaRPr lang="en-US" sz="2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6918" y="1215985"/>
            <a:ext cx="3819267" cy="289750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44096" y="4107537"/>
            <a:ext cx="2843451" cy="294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231971"/>
                </a:solidFill>
                <a:latin typeface="Arial" panose="020B0604020202020204" pitchFamily="34" charset="0"/>
                <a:ea typeface="Outfit Extra Bold" pitchFamily="34" charset="-122"/>
                <a:cs typeface="Arial" panose="020B0604020202020204" pitchFamily="34" charset="0"/>
              </a:rPr>
              <a:t>Основные единицы СИ</a:t>
            </a:r>
            <a:endParaRPr lang="en-US" sz="1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3244096" y="4494490"/>
            <a:ext cx="2673072" cy="1031081"/>
          </a:xfrm>
          <a:prstGeom prst="roundRect">
            <a:avLst>
              <a:gd name="adj" fmla="val 4807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369707" y="4620101"/>
            <a:ext cx="353973" cy="353973"/>
          </a:xfrm>
          <a:prstGeom prst="roundRect">
            <a:avLst>
              <a:gd name="adj" fmla="val 25829896"/>
            </a:avLst>
          </a:prstGeom>
          <a:solidFill>
            <a:srgbClr val="5E4CE6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67100" y="4717375"/>
            <a:ext cx="159187" cy="15918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369707" y="5035391"/>
            <a:ext cx="1474946" cy="184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2A2742"/>
                </a:solidFill>
                <a:latin typeface="Arial" panose="020B0604020202020204" pitchFamily="34" charset="0"/>
                <a:ea typeface="Outfit Extra Bold" pitchFamily="34" charset="-122"/>
                <a:cs typeface="Arial" panose="020B0604020202020204" pitchFamily="34" charset="0"/>
              </a:rPr>
              <a:t>Метр (м)</a:t>
            </a:r>
            <a:endParaRPr lang="en-US" sz="1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3369707" y="5256490"/>
            <a:ext cx="2421850" cy="143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Единица длины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5978485" y="4494490"/>
            <a:ext cx="2673191" cy="1031081"/>
          </a:xfrm>
          <a:prstGeom prst="roundRect">
            <a:avLst>
              <a:gd name="adj" fmla="val 4807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104096" y="4620101"/>
            <a:ext cx="353973" cy="353973"/>
          </a:xfrm>
          <a:prstGeom prst="roundRect">
            <a:avLst>
              <a:gd name="adj" fmla="val 25829896"/>
            </a:avLst>
          </a:prstGeom>
          <a:solidFill>
            <a:srgbClr val="5E4CE6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01489" y="4717375"/>
            <a:ext cx="159187" cy="15918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104096" y="5035391"/>
            <a:ext cx="1474946" cy="184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2A2742"/>
                </a:solidFill>
                <a:latin typeface="Arial" panose="020B0604020202020204" pitchFamily="34" charset="0"/>
                <a:ea typeface="Outfit Extra Bold" pitchFamily="34" charset="-122"/>
                <a:cs typeface="Arial" panose="020B0604020202020204" pitchFamily="34" charset="0"/>
              </a:rPr>
              <a:t>Килограмм (кг)</a:t>
            </a:r>
            <a:endParaRPr lang="en-US" sz="1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6104096" y="5256490"/>
            <a:ext cx="2421969" cy="143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Единица массы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2"/>
          <p:cNvSpPr/>
          <p:nvPr/>
        </p:nvSpPr>
        <p:spPr>
          <a:xfrm>
            <a:off x="8712994" y="4494490"/>
            <a:ext cx="2673191" cy="1031081"/>
          </a:xfrm>
          <a:prstGeom prst="roundRect">
            <a:avLst>
              <a:gd name="adj" fmla="val 4807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8838605" y="4620101"/>
            <a:ext cx="353973" cy="353973"/>
          </a:xfrm>
          <a:prstGeom prst="roundRect">
            <a:avLst>
              <a:gd name="adj" fmla="val 25829896"/>
            </a:avLst>
          </a:prstGeom>
          <a:solidFill>
            <a:srgbClr val="5E4CE6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935998" y="4717375"/>
            <a:ext cx="159187" cy="159187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838605" y="5035391"/>
            <a:ext cx="1474946" cy="184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2A2742"/>
                </a:solidFill>
                <a:latin typeface="Arial" panose="020B0604020202020204" pitchFamily="34" charset="0"/>
                <a:ea typeface="Outfit Extra Bold" pitchFamily="34" charset="-122"/>
                <a:cs typeface="Arial" panose="020B0604020202020204" pitchFamily="34" charset="0"/>
              </a:rPr>
              <a:t>Секунда (с)</a:t>
            </a:r>
            <a:endParaRPr lang="en-US" sz="1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5"/>
          <p:cNvSpPr/>
          <p:nvPr/>
        </p:nvSpPr>
        <p:spPr>
          <a:xfrm>
            <a:off x="8838605" y="5256490"/>
            <a:ext cx="2421969" cy="143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Единица времени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Shape 16"/>
          <p:cNvSpPr/>
          <p:nvPr/>
        </p:nvSpPr>
        <p:spPr>
          <a:xfrm>
            <a:off x="3244096" y="5586889"/>
            <a:ext cx="2673072" cy="1031081"/>
          </a:xfrm>
          <a:prstGeom prst="roundRect">
            <a:avLst>
              <a:gd name="adj" fmla="val 4807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3369707" y="5712500"/>
            <a:ext cx="353973" cy="353973"/>
          </a:xfrm>
          <a:prstGeom prst="roundRect">
            <a:avLst>
              <a:gd name="adj" fmla="val 25829896"/>
            </a:avLst>
          </a:prstGeom>
          <a:solidFill>
            <a:srgbClr val="5E4CE6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467100" y="5809774"/>
            <a:ext cx="159187" cy="159187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3369707" y="6127790"/>
            <a:ext cx="1474946" cy="184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2A2742"/>
                </a:solidFill>
                <a:latin typeface="Arial" panose="020B0604020202020204" pitchFamily="34" charset="0"/>
                <a:ea typeface="Outfit Extra Bold" pitchFamily="34" charset="-122"/>
                <a:cs typeface="Arial" panose="020B0604020202020204" pitchFamily="34" charset="0"/>
              </a:rPr>
              <a:t>Кельвин (К)</a:t>
            </a:r>
            <a:endParaRPr lang="en-US" sz="1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19"/>
          <p:cNvSpPr/>
          <p:nvPr/>
        </p:nvSpPr>
        <p:spPr>
          <a:xfrm>
            <a:off x="3369707" y="6348889"/>
            <a:ext cx="2421850" cy="143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Единица температуры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Shape 20"/>
          <p:cNvSpPr/>
          <p:nvPr/>
        </p:nvSpPr>
        <p:spPr>
          <a:xfrm>
            <a:off x="5978485" y="5586889"/>
            <a:ext cx="2673191" cy="1031081"/>
          </a:xfrm>
          <a:prstGeom prst="roundRect">
            <a:avLst>
              <a:gd name="adj" fmla="val 4807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6104096" y="5712500"/>
            <a:ext cx="353973" cy="353973"/>
          </a:xfrm>
          <a:prstGeom prst="roundRect">
            <a:avLst>
              <a:gd name="adj" fmla="val 25829896"/>
            </a:avLst>
          </a:prstGeom>
          <a:solidFill>
            <a:srgbClr val="5E4CE6"/>
          </a:solidFill>
          <a:ln/>
        </p:spPr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201489" y="5809774"/>
            <a:ext cx="159187" cy="159187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6104096" y="6127790"/>
            <a:ext cx="1474946" cy="184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2A2742"/>
                </a:solidFill>
                <a:latin typeface="Arial" panose="020B0604020202020204" pitchFamily="34" charset="0"/>
                <a:ea typeface="Outfit Extra Bold" pitchFamily="34" charset="-122"/>
                <a:cs typeface="Arial" panose="020B0604020202020204" pitchFamily="34" charset="0"/>
              </a:rPr>
              <a:t>Ампер (А)</a:t>
            </a:r>
            <a:endParaRPr lang="en-US" sz="1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 23"/>
          <p:cNvSpPr/>
          <p:nvPr/>
        </p:nvSpPr>
        <p:spPr>
          <a:xfrm>
            <a:off x="6104096" y="6348889"/>
            <a:ext cx="2421969" cy="143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Единица силы тока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Shape 24"/>
          <p:cNvSpPr/>
          <p:nvPr/>
        </p:nvSpPr>
        <p:spPr>
          <a:xfrm>
            <a:off x="8712994" y="5586889"/>
            <a:ext cx="2673191" cy="1031081"/>
          </a:xfrm>
          <a:prstGeom prst="roundRect">
            <a:avLst>
              <a:gd name="adj" fmla="val 4807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33" name="Shape 25"/>
          <p:cNvSpPr/>
          <p:nvPr/>
        </p:nvSpPr>
        <p:spPr>
          <a:xfrm>
            <a:off x="8838605" y="5712500"/>
            <a:ext cx="353973" cy="353973"/>
          </a:xfrm>
          <a:prstGeom prst="roundRect">
            <a:avLst>
              <a:gd name="adj" fmla="val 25829896"/>
            </a:avLst>
          </a:prstGeom>
          <a:solidFill>
            <a:srgbClr val="5E4CE6"/>
          </a:solidFill>
          <a:ln/>
        </p:spPr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935998" y="5809774"/>
            <a:ext cx="159187" cy="159187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8838605" y="6127790"/>
            <a:ext cx="1474946" cy="184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2A2742"/>
                </a:solidFill>
                <a:latin typeface="Arial" panose="020B0604020202020204" pitchFamily="34" charset="0"/>
                <a:ea typeface="Outfit Extra Bold" pitchFamily="34" charset="-122"/>
                <a:cs typeface="Arial" panose="020B0604020202020204" pitchFamily="34" charset="0"/>
              </a:rPr>
              <a:t>Моль</a:t>
            </a:r>
            <a:endParaRPr lang="en-US" sz="1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 27"/>
          <p:cNvSpPr/>
          <p:nvPr/>
        </p:nvSpPr>
        <p:spPr>
          <a:xfrm>
            <a:off x="8838605" y="6348889"/>
            <a:ext cx="2421969" cy="143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Единица количества вещества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Shape 28"/>
          <p:cNvSpPr/>
          <p:nvPr/>
        </p:nvSpPr>
        <p:spPr>
          <a:xfrm>
            <a:off x="3244096" y="6679287"/>
            <a:ext cx="8142089" cy="1031081"/>
          </a:xfrm>
          <a:prstGeom prst="roundRect">
            <a:avLst>
              <a:gd name="adj" fmla="val 4807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38" name="Shape 29"/>
          <p:cNvSpPr/>
          <p:nvPr/>
        </p:nvSpPr>
        <p:spPr>
          <a:xfrm>
            <a:off x="3369707" y="6804898"/>
            <a:ext cx="353973" cy="353973"/>
          </a:xfrm>
          <a:prstGeom prst="roundRect">
            <a:avLst>
              <a:gd name="adj" fmla="val 25829896"/>
            </a:avLst>
          </a:prstGeom>
          <a:solidFill>
            <a:srgbClr val="5E4CE6"/>
          </a:solidFill>
          <a:ln/>
        </p:spPr>
      </p:sp>
      <p:pic>
        <p:nvPicPr>
          <p:cNvPr id="39" name="Image 7" descr="preencoded.pn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467100" y="6902172"/>
            <a:ext cx="159187" cy="159187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3369707" y="7220188"/>
            <a:ext cx="1474946" cy="184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2A2742"/>
                </a:solidFill>
                <a:latin typeface="Arial" panose="020B0604020202020204" pitchFamily="34" charset="0"/>
                <a:ea typeface="Outfit Extra Bold" pitchFamily="34" charset="-122"/>
                <a:cs typeface="Arial" panose="020B0604020202020204" pitchFamily="34" charset="0"/>
              </a:rPr>
              <a:t>Кандела</a:t>
            </a:r>
            <a:endParaRPr lang="en-US" sz="1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ext 31"/>
          <p:cNvSpPr/>
          <p:nvPr/>
        </p:nvSpPr>
        <p:spPr>
          <a:xfrm>
            <a:off x="3369707" y="7441287"/>
            <a:ext cx="7890867" cy="143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Единица силы света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303E617B-E359-1800-6545-F375BA171FCA}"/>
              </a:ext>
            </a:extLst>
          </p:cNvPr>
          <p:cNvSpPr/>
          <p:nvPr/>
        </p:nvSpPr>
        <p:spPr>
          <a:xfrm>
            <a:off x="12758400" y="7315200"/>
            <a:ext cx="1872000" cy="914400"/>
          </a:xfrm>
          <a:prstGeom prst="rect">
            <a:avLst/>
          </a:prstGeom>
          <a:solidFill>
            <a:srgbClr val="EEEE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432F8F5-283F-FF35-F1D6-A1952FF29BD3}"/>
              </a:ext>
            </a:extLst>
          </p:cNvPr>
          <p:cNvSpPr txBox="1"/>
          <p:nvPr/>
        </p:nvSpPr>
        <p:spPr>
          <a:xfrm>
            <a:off x="14004908" y="7860268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7/10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ADE6F79-E54A-3FF3-10FB-6D8332869DD4}"/>
              </a:ext>
            </a:extLst>
          </p:cNvPr>
          <p:cNvSpPr txBox="1"/>
          <p:nvPr/>
        </p:nvSpPr>
        <p:spPr>
          <a:xfrm>
            <a:off x="3244096" y="1215985"/>
            <a:ext cx="433494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None/>
            </a:pPr>
            <a:r>
              <a:rPr lang="en-US" sz="1800" b="1" dirty="0" err="1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Единица</a:t>
            </a:r>
            <a:r>
              <a:rPr lang="en-US" sz="1800" b="1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 </a:t>
            </a:r>
            <a:r>
              <a:rPr lang="en-US" sz="1800" b="1" dirty="0" err="1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измерения</a:t>
            </a:r>
            <a:r>
              <a:rPr lang="en-US" sz="180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 — </a:t>
            </a:r>
            <a:r>
              <a:rPr lang="en-US" sz="1800" dirty="0" err="1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это</a:t>
            </a:r>
            <a:r>
              <a:rPr lang="en-US" sz="180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величина</a:t>
            </a:r>
            <a:r>
              <a:rPr lang="en-US" sz="180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, </a:t>
            </a:r>
            <a:r>
              <a:rPr lang="en-US" sz="1800" dirty="0" err="1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фиксированная</a:t>
            </a:r>
            <a:r>
              <a:rPr lang="en-US" sz="180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по</a:t>
            </a:r>
            <a:r>
              <a:rPr lang="en-US" sz="180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размеру</a:t>
            </a:r>
            <a:r>
              <a:rPr lang="en-US" sz="180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 и </a:t>
            </a:r>
            <a:r>
              <a:rPr lang="en-US" sz="1800" dirty="0" err="1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принятая</a:t>
            </a:r>
            <a:r>
              <a:rPr lang="en-US" sz="180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 в </a:t>
            </a:r>
            <a:r>
              <a:rPr lang="en-US" sz="1800" dirty="0" err="1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качестве</a:t>
            </a:r>
            <a:r>
              <a:rPr lang="en-US" sz="180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эталона</a:t>
            </a:r>
            <a:r>
              <a:rPr lang="en-US" sz="180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для</a:t>
            </a:r>
            <a:r>
              <a:rPr lang="en-US" sz="180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сравнения</a:t>
            </a:r>
            <a:r>
              <a:rPr lang="en-US" sz="180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других</a:t>
            </a:r>
            <a:r>
              <a:rPr lang="en-US" sz="180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величин</a:t>
            </a:r>
            <a:r>
              <a:rPr lang="en-US" sz="180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того</a:t>
            </a:r>
            <a:r>
              <a:rPr lang="en-US" sz="180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же</a:t>
            </a:r>
            <a:r>
              <a:rPr lang="en-US" sz="180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рода</a:t>
            </a:r>
            <a:r>
              <a:rPr lang="en-US" sz="180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.</a:t>
            </a:r>
          </a:p>
          <a:p>
            <a:r>
              <a:rPr lang="en-US" sz="1800" b="1" dirty="0">
                <a:solidFill>
                  <a:srgbClr val="5E4CE6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СИ (Système International </a:t>
            </a:r>
            <a:r>
              <a:rPr lang="en-US" sz="1800" b="1" dirty="0" err="1">
                <a:solidFill>
                  <a:srgbClr val="5E4CE6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d'Unités</a:t>
            </a:r>
            <a:r>
              <a:rPr lang="en-US" sz="1800" b="1" dirty="0">
                <a:solidFill>
                  <a:srgbClr val="5E4CE6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)</a:t>
            </a:r>
            <a:r>
              <a:rPr lang="en-US" sz="180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 — </a:t>
            </a:r>
            <a:r>
              <a:rPr lang="en-US" sz="1800" dirty="0" err="1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международная</a:t>
            </a:r>
            <a:r>
              <a:rPr lang="en-US" sz="180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система</a:t>
            </a:r>
            <a:r>
              <a:rPr lang="en-US" sz="180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единиц</a:t>
            </a:r>
            <a:r>
              <a:rPr lang="en-US" sz="180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, </a:t>
            </a:r>
            <a:r>
              <a:rPr lang="en-US" sz="1800" dirty="0" err="1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применяемая</a:t>
            </a:r>
            <a:r>
              <a:rPr lang="en-US" sz="180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во</a:t>
            </a:r>
            <a:r>
              <a:rPr lang="en-US" sz="180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всех</a:t>
            </a:r>
            <a:r>
              <a:rPr lang="en-US" sz="180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странах</a:t>
            </a:r>
            <a:r>
              <a:rPr lang="en-US" sz="180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мира</a:t>
            </a:r>
            <a:r>
              <a:rPr lang="en-US" sz="180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для</a:t>
            </a:r>
            <a:r>
              <a:rPr lang="en-US" sz="180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обеспечения</a:t>
            </a:r>
            <a:r>
              <a:rPr lang="en-US" sz="180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единообразия</a:t>
            </a:r>
            <a:r>
              <a:rPr lang="en-US" sz="180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измерений</a:t>
            </a:r>
            <a:r>
              <a:rPr lang="en-US" sz="180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.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04084" y="1098709"/>
            <a:ext cx="5180767" cy="4622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900" b="1" dirty="0">
                <a:solidFill>
                  <a:srgbClr val="231971"/>
                </a:solidFill>
                <a:latin typeface="Arial" panose="020B0604020202020204" pitchFamily="34" charset="0"/>
                <a:ea typeface="Outfit Extra Bold" pitchFamily="34" charset="-122"/>
                <a:cs typeface="Arial" panose="020B0604020202020204" pitchFamily="34" charset="0"/>
              </a:rPr>
              <a:t>Производные единицы СИ</a:t>
            </a:r>
            <a:endParaRPr lang="en-US" sz="2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004084" y="1705570"/>
            <a:ext cx="8108633" cy="390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Производные единицы образуются из основных единиц СИ с помощью математических соотношений, отражающих физические законы.</a:t>
            </a:r>
            <a:endParaRPr lang="en-US" sz="1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4084" y="2204799"/>
            <a:ext cx="739616" cy="103334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840141" y="2352675"/>
            <a:ext cx="1849041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A2742"/>
                </a:solidFill>
                <a:latin typeface="Arial" panose="020B0604020202020204" pitchFamily="34" charset="0"/>
                <a:ea typeface="Outfit Extra Bold" pitchFamily="34" charset="-122"/>
                <a:cs typeface="Arial" panose="020B0604020202020204" pitchFamily="34" charset="0"/>
              </a:rPr>
              <a:t>Скорость</a:t>
            </a:r>
            <a:endParaRPr lang="en-US" sz="1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6840141" y="2641640"/>
            <a:ext cx="7272576" cy="195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Метр в секунду (м/с)</a:t>
            </a:r>
            <a:endParaRPr lang="en-US" sz="1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6840141" y="2894886"/>
            <a:ext cx="7272576" cy="195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[м]/[с]</a:t>
            </a:r>
            <a:endParaRPr lang="en-US" sz="1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4084" y="3238143"/>
            <a:ext cx="739616" cy="103334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840141" y="3386018"/>
            <a:ext cx="1849041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A2742"/>
                </a:solidFill>
                <a:latin typeface="Arial" panose="020B0604020202020204" pitchFamily="34" charset="0"/>
                <a:ea typeface="Outfit Extra Bold" pitchFamily="34" charset="-122"/>
                <a:cs typeface="Arial" panose="020B0604020202020204" pitchFamily="34" charset="0"/>
              </a:rPr>
              <a:t>Сила</a:t>
            </a:r>
            <a:endParaRPr lang="en-US" sz="1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6840141" y="3674983"/>
            <a:ext cx="7272576" cy="195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Ньютон (Н)</a:t>
            </a:r>
            <a:endParaRPr lang="en-US" sz="1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6840141" y="3928229"/>
            <a:ext cx="7272576" cy="195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[кг] </a:t>
            </a:r>
            <a:r>
              <a:rPr lang="ru-RU" sz="1150" i="1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=</a:t>
            </a:r>
            <a:r>
              <a:rPr lang="en-US" sz="1150" i="1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 </a:t>
            </a:r>
            <a:r>
              <a:rPr lang="en-US" sz="1150" i="1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[м]/[с]^2</a:t>
            </a:r>
            <a:endParaRPr lang="en-US" sz="1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4084" y="4271486"/>
            <a:ext cx="739616" cy="103334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840141" y="4419362"/>
            <a:ext cx="1849041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A2742"/>
                </a:solidFill>
                <a:latin typeface="Arial" panose="020B0604020202020204" pitchFamily="34" charset="0"/>
                <a:ea typeface="Outfit Extra Bold" pitchFamily="34" charset="-122"/>
                <a:cs typeface="Arial" panose="020B0604020202020204" pitchFamily="34" charset="0"/>
              </a:rPr>
              <a:t>Давление</a:t>
            </a:r>
            <a:endParaRPr lang="en-US" sz="1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9"/>
          <p:cNvSpPr/>
          <p:nvPr/>
        </p:nvSpPr>
        <p:spPr>
          <a:xfrm>
            <a:off x="6840141" y="4708327"/>
            <a:ext cx="7272576" cy="195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Паскаль (Па)</a:t>
            </a:r>
            <a:endParaRPr lang="en-US" sz="1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0"/>
          <p:cNvSpPr/>
          <p:nvPr/>
        </p:nvSpPr>
        <p:spPr>
          <a:xfrm>
            <a:off x="6840141" y="4961573"/>
            <a:ext cx="7272576" cy="195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[Н]/[м]^2</a:t>
            </a:r>
            <a:endParaRPr lang="en-US" sz="1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1"/>
          <p:cNvSpPr/>
          <p:nvPr/>
        </p:nvSpPr>
        <p:spPr>
          <a:xfrm>
            <a:off x="6004084" y="5413296"/>
            <a:ext cx="4006096" cy="810577"/>
          </a:xfrm>
          <a:prstGeom prst="roundRect">
            <a:avLst>
              <a:gd name="adj" fmla="val 7665"/>
            </a:avLst>
          </a:prstGeom>
          <a:solidFill>
            <a:srgbClr val="FAFAFA">
              <a:alpha val="95000"/>
            </a:srgbClr>
          </a:solidFill>
          <a:ln w="15240">
            <a:solidFill>
              <a:srgbClr val="BDB8DF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6167199" y="5576411"/>
            <a:ext cx="1849041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A2742"/>
                </a:solidFill>
                <a:latin typeface="Arial" panose="020B0604020202020204" pitchFamily="34" charset="0"/>
                <a:ea typeface="Outfit Extra Bold" pitchFamily="34" charset="-122"/>
                <a:cs typeface="Arial" panose="020B0604020202020204" pitchFamily="34" charset="0"/>
              </a:rPr>
              <a:t>Площадь</a:t>
            </a:r>
            <a:endParaRPr lang="en-US" sz="1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3"/>
          <p:cNvSpPr/>
          <p:nvPr/>
        </p:nvSpPr>
        <p:spPr>
          <a:xfrm>
            <a:off x="6167199" y="5865376"/>
            <a:ext cx="3679865" cy="195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Квадратный метр (м²)</a:t>
            </a:r>
            <a:endParaRPr lang="en-US" sz="1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hape 14"/>
          <p:cNvSpPr/>
          <p:nvPr/>
        </p:nvSpPr>
        <p:spPr>
          <a:xfrm>
            <a:off x="10106620" y="5413296"/>
            <a:ext cx="4006096" cy="810577"/>
          </a:xfrm>
          <a:prstGeom prst="roundRect">
            <a:avLst>
              <a:gd name="adj" fmla="val 7665"/>
            </a:avLst>
          </a:prstGeom>
          <a:solidFill>
            <a:srgbClr val="FAFAFA">
              <a:alpha val="95000"/>
            </a:srgbClr>
          </a:solidFill>
          <a:ln w="15240">
            <a:solidFill>
              <a:srgbClr val="BDB8DF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10269736" y="5576411"/>
            <a:ext cx="1849041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A2742"/>
                </a:solidFill>
                <a:latin typeface="Arial" panose="020B0604020202020204" pitchFamily="34" charset="0"/>
                <a:ea typeface="Outfit Extra Bold" pitchFamily="34" charset="-122"/>
                <a:cs typeface="Arial" panose="020B0604020202020204" pitchFamily="34" charset="0"/>
              </a:rPr>
              <a:t>Объём</a:t>
            </a:r>
            <a:endParaRPr lang="en-US" sz="1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10269736" y="5865376"/>
            <a:ext cx="3679865" cy="195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Кубический метр (м³)</a:t>
            </a:r>
            <a:endParaRPr lang="en-US" sz="1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Shape 17"/>
          <p:cNvSpPr/>
          <p:nvPr/>
        </p:nvSpPr>
        <p:spPr>
          <a:xfrm>
            <a:off x="6004084" y="6320314"/>
            <a:ext cx="8108633" cy="810577"/>
          </a:xfrm>
          <a:prstGeom prst="roundRect">
            <a:avLst>
              <a:gd name="adj" fmla="val 7665"/>
            </a:avLst>
          </a:prstGeom>
          <a:solidFill>
            <a:srgbClr val="FAFAFA">
              <a:alpha val="95000"/>
            </a:srgbClr>
          </a:solidFill>
          <a:ln w="15240">
            <a:solidFill>
              <a:srgbClr val="BDB8DF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6167199" y="6483429"/>
            <a:ext cx="1849041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A2742"/>
                </a:solidFill>
                <a:latin typeface="Arial" panose="020B0604020202020204" pitchFamily="34" charset="0"/>
                <a:ea typeface="Outfit Extra Bold" pitchFamily="34" charset="-122"/>
                <a:cs typeface="Arial" panose="020B0604020202020204" pitchFamily="34" charset="0"/>
              </a:rPr>
              <a:t>Энергия</a:t>
            </a:r>
            <a:endParaRPr lang="en-US" sz="1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19"/>
          <p:cNvSpPr/>
          <p:nvPr/>
        </p:nvSpPr>
        <p:spPr>
          <a:xfrm>
            <a:off x="6167199" y="6772394"/>
            <a:ext cx="7782401" cy="195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Джоуль (Дж)</a:t>
            </a:r>
            <a:endParaRPr lang="en-US" sz="1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38420EC3-ED39-4146-972D-1D3F239E3A22}"/>
              </a:ext>
            </a:extLst>
          </p:cNvPr>
          <p:cNvSpPr/>
          <p:nvPr/>
        </p:nvSpPr>
        <p:spPr>
          <a:xfrm>
            <a:off x="12758400" y="7315200"/>
            <a:ext cx="1872000" cy="914400"/>
          </a:xfrm>
          <a:prstGeom prst="rect">
            <a:avLst/>
          </a:prstGeom>
          <a:solidFill>
            <a:srgbClr val="EEEE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3FFFA63-A432-6638-0F62-E38B2AB297F7}"/>
              </a:ext>
            </a:extLst>
          </p:cNvPr>
          <p:cNvSpPr txBox="1"/>
          <p:nvPr/>
        </p:nvSpPr>
        <p:spPr>
          <a:xfrm>
            <a:off x="14004908" y="7860268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8/10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4751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Arial" panose="020B0604020202020204" pitchFamily="34" charset="0"/>
                <a:ea typeface="Outfit Extra Bold" pitchFamily="34" charset="-122"/>
                <a:cs typeface="Arial" panose="020B0604020202020204" pitchFamily="34" charset="0"/>
              </a:rPr>
              <a:t>Заключение</a:t>
            </a:r>
            <a:endParaRPr lang="en-US" sz="4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93790" y="209645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8860" y="2181463"/>
            <a:ext cx="340162" cy="3401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30906" y="2174319"/>
            <a:ext cx="464141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Arial" panose="020B0604020202020204" pitchFamily="34" charset="0"/>
                <a:ea typeface="Outfit Extra Bold" pitchFamily="34" charset="-122"/>
                <a:cs typeface="Arial" panose="020B0604020202020204" pitchFamily="34" charset="0"/>
              </a:rPr>
              <a:t>Величина — основа измерений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530906" y="2664738"/>
            <a:ext cx="123057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Каждое измерение начинается с понимания того, какую величину мы хотим определить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793790" y="348126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8860" y="3566279"/>
            <a:ext cx="340162" cy="34016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30906" y="3559135"/>
            <a:ext cx="808267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Arial" panose="020B0604020202020204" pitchFamily="34" charset="0"/>
                <a:ea typeface="Outfit Extra Bold" pitchFamily="34" charset="-122"/>
                <a:cs typeface="Arial" panose="020B0604020202020204" pitchFamily="34" charset="0"/>
              </a:rPr>
              <a:t>Физические величины описывают свойства объектов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1530906" y="4049554"/>
            <a:ext cx="123057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С их помощью мы характеризуем и количественно описываем окружающий мир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793790" y="4866084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78860" y="4951095"/>
            <a:ext cx="340162" cy="34016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30906" y="4943951"/>
            <a:ext cx="844903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Arial" panose="020B0604020202020204" pitchFamily="34" charset="0"/>
                <a:ea typeface="Outfit Extra Bold" pitchFamily="34" charset="-122"/>
                <a:cs typeface="Arial" panose="020B0604020202020204" pitchFamily="34" charset="0"/>
              </a:rPr>
              <a:t>Характеристики позволяют точно определить величину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9"/>
          <p:cNvSpPr/>
          <p:nvPr/>
        </p:nvSpPr>
        <p:spPr>
          <a:xfrm>
            <a:off x="1530906" y="5434370"/>
            <a:ext cx="123057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Качественная и количественная характеристики вместе дают полное описание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10"/>
          <p:cNvSpPr/>
          <p:nvPr/>
        </p:nvSpPr>
        <p:spPr>
          <a:xfrm>
            <a:off x="793790" y="625090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78860" y="6335911"/>
            <a:ext cx="340162" cy="34016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530906" y="6328767"/>
            <a:ext cx="783336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Arial" panose="020B0604020202020204" pitchFamily="34" charset="0"/>
                <a:ea typeface="Outfit Extra Bold" pitchFamily="34" charset="-122"/>
                <a:cs typeface="Arial" panose="020B0604020202020204" pitchFamily="34" charset="0"/>
              </a:rPr>
              <a:t>Система СИ обеспечивает единообразие измерений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1530906" y="6819186"/>
            <a:ext cx="123057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Единая система единиц позволяет сравнивать результаты в разных странах и лабораториях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04DEB1F5-29BF-C583-193E-B0AE9D214BDE}"/>
              </a:ext>
            </a:extLst>
          </p:cNvPr>
          <p:cNvSpPr/>
          <p:nvPr/>
        </p:nvSpPr>
        <p:spPr>
          <a:xfrm>
            <a:off x="12758400" y="7315200"/>
            <a:ext cx="1872000" cy="914400"/>
          </a:xfrm>
          <a:prstGeom prst="rect">
            <a:avLst/>
          </a:prstGeom>
          <a:solidFill>
            <a:srgbClr val="EEEE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0449899-EF84-08FA-43C7-B4021710BE4D}"/>
              </a:ext>
            </a:extLst>
          </p:cNvPr>
          <p:cNvSpPr txBox="1"/>
          <p:nvPr/>
        </p:nvSpPr>
        <p:spPr>
          <a:xfrm>
            <a:off x="14004908" y="7860268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9/10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90494" y="2697123"/>
            <a:ext cx="12877955" cy="2835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b="1" dirty="0">
                <a:solidFill>
                  <a:srgbClr val="231971"/>
                </a:solidFill>
                <a:latin typeface="Arial" panose="020B0604020202020204" pitchFamily="34" charset="0"/>
                <a:ea typeface="Outfit Extra Bold" pitchFamily="34" charset="-122"/>
                <a:cs typeface="Arial" panose="020B0604020202020204" pitchFamily="34" charset="0"/>
              </a:rPr>
              <a:t>Спасибо за внимание!</a:t>
            </a:r>
            <a:endParaRPr lang="en-US" sz="8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A07BEEB-928B-EB48-10FD-2340AE6C402B}"/>
              </a:ext>
            </a:extLst>
          </p:cNvPr>
          <p:cNvSpPr/>
          <p:nvPr/>
        </p:nvSpPr>
        <p:spPr>
          <a:xfrm>
            <a:off x="12758400" y="7315200"/>
            <a:ext cx="2034492" cy="914400"/>
          </a:xfrm>
          <a:prstGeom prst="rect">
            <a:avLst/>
          </a:prstGeom>
          <a:solidFill>
            <a:srgbClr val="EEEE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A9FBD4-D021-14E5-05DB-C99D01A81530}"/>
              </a:ext>
            </a:extLst>
          </p:cNvPr>
          <p:cNvSpPr txBox="1"/>
          <p:nvPr/>
        </p:nvSpPr>
        <p:spPr>
          <a:xfrm>
            <a:off x="13887889" y="7860268"/>
            <a:ext cx="8278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10/10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548</Words>
  <Application>Microsoft Office PowerPoint</Application>
  <PresentationFormat>Произвольный</PresentationFormat>
  <Paragraphs>127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Fanatsio PC</cp:lastModifiedBy>
  <cp:revision>12</cp:revision>
  <dcterms:created xsi:type="dcterms:W3CDTF">2026-03-27T07:34:32Z</dcterms:created>
  <dcterms:modified xsi:type="dcterms:W3CDTF">2026-03-27T08:07:57Z</dcterms:modified>
</cp:coreProperties>
</file>